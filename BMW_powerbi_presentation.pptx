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ang Kale" userId="388d9b671d51f163" providerId="LiveId" clId="{9515B05A-7D93-49BC-8B93-0615DCE8833B}"/>
    <pc:docChg chg="undo redo custSel addSld delSld modSld">
      <pc:chgData name="Gorang Kale" userId="388d9b671d51f163" providerId="LiveId" clId="{9515B05A-7D93-49BC-8B93-0615DCE8833B}" dt="2026-01-20T15:31:26.922" v="149" actId="20577"/>
      <pc:docMkLst>
        <pc:docMk/>
      </pc:docMkLst>
      <pc:sldChg chg="modSp mod">
        <pc:chgData name="Gorang Kale" userId="388d9b671d51f163" providerId="LiveId" clId="{9515B05A-7D93-49BC-8B93-0615DCE8833B}" dt="2026-01-20T11:26:12.415" v="106" actId="14100"/>
        <pc:sldMkLst>
          <pc:docMk/>
          <pc:sldMk cId="3916579974" sldId="256"/>
        </pc:sldMkLst>
        <pc:spChg chg="mod">
          <ac:chgData name="Gorang Kale" userId="388d9b671d51f163" providerId="LiveId" clId="{9515B05A-7D93-49BC-8B93-0615DCE8833B}" dt="2026-01-20T11:26:12.415" v="106" actId="14100"/>
          <ac:spMkLst>
            <pc:docMk/>
            <pc:sldMk cId="3916579974" sldId="256"/>
            <ac:spMk id="2" creationId="{D21A822E-0EBD-4A5B-F696-46E4947F579A}"/>
          </ac:spMkLst>
        </pc:spChg>
        <pc:spChg chg="mod">
          <ac:chgData name="Gorang Kale" userId="388d9b671d51f163" providerId="LiveId" clId="{9515B05A-7D93-49BC-8B93-0615DCE8833B}" dt="2026-01-20T11:25:46.190" v="103" actId="13926"/>
          <ac:spMkLst>
            <pc:docMk/>
            <pc:sldMk cId="3916579974" sldId="256"/>
            <ac:spMk id="3" creationId="{EDD9F8A7-C6B2-1D5A-D391-9FAD4090C49B}"/>
          </ac:spMkLst>
        </pc:spChg>
      </pc:sldChg>
      <pc:sldChg chg="modSp mod">
        <pc:chgData name="Gorang Kale" userId="388d9b671d51f163" providerId="LiveId" clId="{9515B05A-7D93-49BC-8B93-0615DCE8833B}" dt="2026-01-20T11:23:58.703" v="58" actId="255"/>
        <pc:sldMkLst>
          <pc:docMk/>
          <pc:sldMk cId="3572912425" sldId="257"/>
        </pc:sldMkLst>
        <pc:spChg chg="mod">
          <ac:chgData name="Gorang Kale" userId="388d9b671d51f163" providerId="LiveId" clId="{9515B05A-7D93-49BC-8B93-0615DCE8833B}" dt="2026-01-20T11:23:58.703" v="58" actId="255"/>
          <ac:spMkLst>
            <pc:docMk/>
            <pc:sldMk cId="3572912425" sldId="257"/>
            <ac:spMk id="2" creationId="{8A260CFB-D218-C2A5-3882-317C2B36CAFB}"/>
          </ac:spMkLst>
        </pc:spChg>
        <pc:spChg chg="mod">
          <ac:chgData name="Gorang Kale" userId="388d9b671d51f163" providerId="LiveId" clId="{9515B05A-7D93-49BC-8B93-0615DCE8833B}" dt="2026-01-20T11:19:28.713" v="27" actId="14100"/>
          <ac:spMkLst>
            <pc:docMk/>
            <pc:sldMk cId="3572912425" sldId="257"/>
            <ac:spMk id="4" creationId="{C1595AC8-A38F-58AE-2A98-72748AC6E079}"/>
          </ac:spMkLst>
        </pc:spChg>
      </pc:sldChg>
      <pc:sldChg chg="modSp mod">
        <pc:chgData name="Gorang Kale" userId="388d9b671d51f163" providerId="LiveId" clId="{9515B05A-7D93-49BC-8B93-0615DCE8833B}" dt="2026-01-20T11:23:16.100" v="53" actId="1076"/>
        <pc:sldMkLst>
          <pc:docMk/>
          <pc:sldMk cId="3583444409" sldId="258"/>
        </pc:sldMkLst>
        <pc:spChg chg="mod">
          <ac:chgData name="Gorang Kale" userId="388d9b671d51f163" providerId="LiveId" clId="{9515B05A-7D93-49BC-8B93-0615DCE8833B}" dt="2026-01-20T11:23:08.850" v="52" actId="255"/>
          <ac:spMkLst>
            <pc:docMk/>
            <pc:sldMk cId="3583444409" sldId="258"/>
            <ac:spMk id="2" creationId="{5D1AD24C-79D0-C0FA-80CE-89BDC10A70D7}"/>
          </ac:spMkLst>
        </pc:spChg>
        <pc:spChg chg="mod">
          <ac:chgData name="Gorang Kale" userId="388d9b671d51f163" providerId="LiveId" clId="{9515B05A-7D93-49BC-8B93-0615DCE8833B}" dt="2026-01-20T11:23:16.100" v="53" actId="1076"/>
          <ac:spMkLst>
            <pc:docMk/>
            <pc:sldMk cId="3583444409" sldId="258"/>
            <ac:spMk id="3" creationId="{857517C3-77D0-CF98-64D7-8177AF6F6650}"/>
          </ac:spMkLst>
        </pc:spChg>
      </pc:sldChg>
      <pc:sldChg chg="modSp mod">
        <pc:chgData name="Gorang Kale" userId="388d9b671d51f163" providerId="LiveId" clId="{9515B05A-7D93-49BC-8B93-0615DCE8833B}" dt="2026-01-20T11:22:51.860" v="51" actId="1076"/>
        <pc:sldMkLst>
          <pc:docMk/>
          <pc:sldMk cId="2403763536" sldId="259"/>
        </pc:sldMkLst>
        <pc:spChg chg="mod">
          <ac:chgData name="Gorang Kale" userId="388d9b671d51f163" providerId="LiveId" clId="{9515B05A-7D93-49BC-8B93-0615DCE8833B}" dt="2026-01-20T11:22:40.743" v="50" actId="255"/>
          <ac:spMkLst>
            <pc:docMk/>
            <pc:sldMk cId="2403763536" sldId="259"/>
            <ac:spMk id="2" creationId="{07DC3835-5C76-71E8-3934-66ABFCAA1EEB}"/>
          </ac:spMkLst>
        </pc:spChg>
        <pc:spChg chg="mod">
          <ac:chgData name="Gorang Kale" userId="388d9b671d51f163" providerId="LiveId" clId="{9515B05A-7D93-49BC-8B93-0615DCE8833B}" dt="2026-01-20T11:22:51.860" v="51" actId="1076"/>
          <ac:spMkLst>
            <pc:docMk/>
            <pc:sldMk cId="2403763536" sldId="259"/>
            <ac:spMk id="3" creationId="{D2B8447B-BBD1-B020-0993-D19A9E55794B}"/>
          </ac:spMkLst>
        </pc:spChg>
      </pc:sldChg>
      <pc:sldChg chg="modSp new add del mod">
        <pc:chgData name="Gorang Kale" userId="388d9b671d51f163" providerId="LiveId" clId="{9515B05A-7D93-49BC-8B93-0615DCE8833B}" dt="2026-01-20T15:28:36.304" v="131" actId="1076"/>
        <pc:sldMkLst>
          <pc:docMk/>
          <pc:sldMk cId="3013855995" sldId="260"/>
        </pc:sldMkLst>
        <pc:spChg chg="mod">
          <ac:chgData name="Gorang Kale" userId="388d9b671d51f163" providerId="LiveId" clId="{9515B05A-7D93-49BC-8B93-0615DCE8833B}" dt="2026-01-20T15:28:27.482" v="130" actId="1076"/>
          <ac:spMkLst>
            <pc:docMk/>
            <pc:sldMk cId="3013855995" sldId="260"/>
            <ac:spMk id="2" creationId="{3F4AA5F2-5CED-9BE9-8EED-7D824593233D}"/>
          </ac:spMkLst>
        </pc:spChg>
        <pc:spChg chg="mod">
          <ac:chgData name="Gorang Kale" userId="388d9b671d51f163" providerId="LiveId" clId="{9515B05A-7D93-49BC-8B93-0615DCE8833B}" dt="2026-01-20T15:28:36.304" v="131" actId="1076"/>
          <ac:spMkLst>
            <pc:docMk/>
            <pc:sldMk cId="3013855995" sldId="260"/>
            <ac:spMk id="3" creationId="{347C3FCF-8045-94E7-BDAA-D8A2F2B4508F}"/>
          </ac:spMkLst>
        </pc:spChg>
      </pc:sldChg>
      <pc:sldChg chg="modSp new mod">
        <pc:chgData name="Gorang Kale" userId="388d9b671d51f163" providerId="LiveId" clId="{9515B05A-7D93-49BC-8B93-0615DCE8833B}" dt="2026-01-20T15:28:06.744" v="128" actId="255"/>
        <pc:sldMkLst>
          <pc:docMk/>
          <pc:sldMk cId="3615951476" sldId="261"/>
        </pc:sldMkLst>
        <pc:spChg chg="mod">
          <ac:chgData name="Gorang Kale" userId="388d9b671d51f163" providerId="LiveId" clId="{9515B05A-7D93-49BC-8B93-0615DCE8833B}" dt="2026-01-20T15:28:06.744" v="128" actId="255"/>
          <ac:spMkLst>
            <pc:docMk/>
            <pc:sldMk cId="3615951476" sldId="261"/>
            <ac:spMk id="2" creationId="{E330AC55-8F3E-8446-090A-7CE30194B1A1}"/>
          </ac:spMkLst>
        </pc:spChg>
        <pc:spChg chg="mod">
          <ac:chgData name="Gorang Kale" userId="388d9b671d51f163" providerId="LiveId" clId="{9515B05A-7D93-49BC-8B93-0615DCE8833B}" dt="2026-01-20T15:27:56.001" v="127" actId="255"/>
          <ac:spMkLst>
            <pc:docMk/>
            <pc:sldMk cId="3615951476" sldId="261"/>
            <ac:spMk id="3" creationId="{608864DB-89D1-830B-71BF-828BC9AA4ED0}"/>
          </ac:spMkLst>
        </pc:spChg>
      </pc:sldChg>
      <pc:sldChg chg="modSp new mod">
        <pc:chgData name="Gorang Kale" userId="388d9b671d51f163" providerId="LiveId" clId="{9515B05A-7D93-49BC-8B93-0615DCE8833B}" dt="2026-01-20T15:29:38.846" v="138" actId="255"/>
        <pc:sldMkLst>
          <pc:docMk/>
          <pc:sldMk cId="2719024783" sldId="262"/>
        </pc:sldMkLst>
        <pc:spChg chg="mod">
          <ac:chgData name="Gorang Kale" userId="388d9b671d51f163" providerId="LiveId" clId="{9515B05A-7D93-49BC-8B93-0615DCE8833B}" dt="2026-01-20T15:29:38.846" v="138" actId="255"/>
          <ac:spMkLst>
            <pc:docMk/>
            <pc:sldMk cId="2719024783" sldId="262"/>
            <ac:spMk id="2" creationId="{C03CE814-051C-C8E1-5F0B-41E44C9B108D}"/>
          </ac:spMkLst>
        </pc:spChg>
        <pc:spChg chg="mod">
          <ac:chgData name="Gorang Kale" userId="388d9b671d51f163" providerId="LiveId" clId="{9515B05A-7D93-49BC-8B93-0615DCE8833B}" dt="2026-01-20T15:29:31.507" v="137" actId="255"/>
          <ac:spMkLst>
            <pc:docMk/>
            <pc:sldMk cId="2719024783" sldId="262"/>
            <ac:spMk id="3" creationId="{FDC97B5C-E743-D712-C6A3-DF2EE1568CEE}"/>
          </ac:spMkLst>
        </pc:spChg>
      </pc:sldChg>
      <pc:sldChg chg="modSp new mod">
        <pc:chgData name="Gorang Kale" userId="388d9b671d51f163" providerId="LiveId" clId="{9515B05A-7D93-49BC-8B93-0615DCE8833B}" dt="2026-01-20T15:31:26.922" v="149" actId="20577"/>
        <pc:sldMkLst>
          <pc:docMk/>
          <pc:sldMk cId="974048390" sldId="263"/>
        </pc:sldMkLst>
        <pc:spChg chg="mod">
          <ac:chgData name="Gorang Kale" userId="388d9b671d51f163" providerId="LiveId" clId="{9515B05A-7D93-49BC-8B93-0615DCE8833B}" dt="2026-01-20T15:31:03.592" v="144" actId="255"/>
          <ac:spMkLst>
            <pc:docMk/>
            <pc:sldMk cId="974048390" sldId="263"/>
            <ac:spMk id="2" creationId="{9D5A32FC-BEB2-EA6E-4A40-B52FDFF85560}"/>
          </ac:spMkLst>
        </pc:spChg>
        <pc:spChg chg="mod">
          <ac:chgData name="Gorang Kale" userId="388d9b671d51f163" providerId="LiveId" clId="{9515B05A-7D93-49BC-8B93-0615DCE8833B}" dt="2026-01-20T15:31:26.922" v="149" actId="20577"/>
          <ac:spMkLst>
            <pc:docMk/>
            <pc:sldMk cId="974048390" sldId="263"/>
            <ac:spMk id="3" creationId="{D2DDCBD9-3117-60D1-C3C1-532CF08CEF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3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37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5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3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89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80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8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48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48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364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9156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177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821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453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45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53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9A4F567-95A6-4CEE-AD55-26755A8BED8E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DD47006-B9A0-4698-A8FB-EDB6C27EA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2586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822E-0EBD-4A5B-F696-46E4947F5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8710" y="1041400"/>
            <a:ext cx="9159122" cy="2911168"/>
          </a:xfrm>
        </p:spPr>
        <p:txBody>
          <a:bodyPr>
            <a:noAutofit/>
          </a:bodyPr>
          <a:lstStyle/>
          <a:p>
            <a:r>
              <a:rPr lang="en-IN" sz="6000" dirty="0"/>
              <a:t>BMW Data Analysis Dashboard</a:t>
            </a:r>
            <a:br>
              <a:rPr lang="en-IN" sz="6000" dirty="0"/>
            </a:b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9F8A7-C6B2-1D5A-D391-9FAD4090C4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1200" dirty="0">
                <a:highlight>
                  <a:srgbClr val="808080"/>
                </a:highlight>
              </a:rPr>
              <a:t>Made By: Gorang Kale</a:t>
            </a:r>
          </a:p>
          <a:p>
            <a:r>
              <a:rPr lang="en-US" sz="11200" dirty="0">
                <a:highlight>
                  <a:srgbClr val="808080"/>
                </a:highlight>
              </a:rPr>
              <a:t>&amp;</a:t>
            </a:r>
          </a:p>
          <a:p>
            <a:r>
              <a:rPr lang="en-US" sz="11200" dirty="0">
                <a:highlight>
                  <a:srgbClr val="808080"/>
                </a:highlight>
              </a:rPr>
              <a:t>                   Sanjiv </a:t>
            </a:r>
            <a:r>
              <a:rPr lang="en-US" sz="11200" dirty="0" err="1">
                <a:highlight>
                  <a:srgbClr val="808080"/>
                </a:highlight>
              </a:rPr>
              <a:t>Sachde</a:t>
            </a:r>
            <a:endParaRPr lang="en-US" sz="11200" dirty="0">
              <a:highlight>
                <a:srgbClr val="808080"/>
              </a:highlight>
            </a:endParaRPr>
          </a:p>
          <a:p>
            <a:r>
              <a:rPr lang="en-US" sz="11200" dirty="0">
                <a:highlight>
                  <a:srgbClr val="808080"/>
                </a:highlight>
              </a:rPr>
              <a:t>Course / Subject: Data Science [Excel]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579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60CFB-D218-C2A5-3882-317C2B36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6142"/>
            <a:ext cx="10299487" cy="1130710"/>
          </a:xfrm>
        </p:spPr>
        <p:txBody>
          <a:bodyPr>
            <a:noAutofit/>
          </a:bodyPr>
          <a:lstStyle/>
          <a:p>
            <a:r>
              <a:rPr lang="en-IN" sz="4800" dirty="0"/>
              <a:t>PROJECT OVERVIEW &amp;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595AC8-A38F-58AE-2A98-72748AC6E0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58" y="1642509"/>
            <a:ext cx="1189703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The objective of this project is to analyze BMW car data using Microsoft Excel and transform raw data into a meaningful and interactive dashboard. </a:t>
            </a:r>
          </a:p>
          <a:p>
            <a:pPr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The project aims to summarize important information such as total number of models, average price, best mileage, and lowest price using KPI boxes. </a:t>
            </a:r>
          </a:p>
          <a:p>
            <a:pPr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In addition, various charts are used to visualize trends across different model years and BMW series, helping to compare prices and mileage efficiently. </a:t>
            </a:r>
          </a:p>
          <a:p>
            <a:pPr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This dashboard enables quick understanding of data, supports better decision-making, and presents complex information in a clear and visual format.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91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D24C-79D0-C0FA-80CE-89BDC10A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What did we do??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517C3-77D0-CF98-64D7-8177AF6F6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98" y="1757031"/>
            <a:ext cx="10353762" cy="4058751"/>
          </a:xfrm>
        </p:spPr>
        <p:txBody>
          <a:bodyPr>
            <a:normAutofit/>
          </a:bodyPr>
          <a:lstStyle/>
          <a:p>
            <a:pPr>
              <a:buSzPct val="80000"/>
              <a:buFont typeface="Arial" panose="020B0604020202020204" pitchFamily="34" charset="0"/>
              <a:buChar char="•"/>
            </a:pPr>
            <a:r>
              <a:rPr lang="en-US" sz="2800" dirty="0"/>
              <a:t>We solved the problem of understanding BMW car data that was difficult to analyze in table format.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By using Microsoft Excel, we converted the raw data into a simple dashboard with KPI boxes and charts.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dashboard shows important details such as total BMW models, average price, best mileage, and lowest price.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Charts are used to show trends and comparisons, which makes the data easy to understand and useful for quick analysis.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8344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A5F2-5CED-9BE9-8EED-7D8245932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61999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Executive Summary – Performance at a Glance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C3FCF-8045-94E7-BDAA-D8A2F2B45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37250"/>
            <a:ext cx="10353762" cy="40587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Total Cars Sold:</a:t>
            </a:r>
            <a:r>
              <a:rPr lang="en-US" sz="3200" dirty="0"/>
              <a:t> </a:t>
            </a:r>
            <a:r>
              <a:rPr lang="en-US" sz="3200" b="1" dirty="0"/>
              <a:t>99 units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Total Revenue Generated:</a:t>
            </a:r>
            <a:r>
              <a:rPr lang="en-US" sz="3200" dirty="0"/>
              <a:t> </a:t>
            </a:r>
            <a:r>
              <a:rPr lang="en-US" sz="3200" b="1" dirty="0"/>
              <a:t>$14,55,683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Total BMW Models Analyzed:</a:t>
            </a:r>
            <a:r>
              <a:rPr lang="en-US" sz="3200" dirty="0"/>
              <a:t> </a:t>
            </a:r>
            <a:r>
              <a:rPr lang="en-US" sz="3200" b="1" dirty="0"/>
              <a:t>13 models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Years Covered:</a:t>
            </a:r>
            <a:r>
              <a:rPr lang="en-US" sz="3200" dirty="0"/>
              <a:t> </a:t>
            </a:r>
            <a:r>
              <a:rPr lang="en-US" sz="3200" b="1" dirty="0"/>
              <a:t>2013 – 2019</a:t>
            </a:r>
            <a:endParaRPr lang="en-US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85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AC55-8F3E-8446-090A-7CE30194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/>
              <a:t>Top Performing BMW Models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864DB-89D1-830B-71BF-828BC9AA4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1 Series</a:t>
            </a:r>
            <a:r>
              <a:rPr lang="en-US" sz="3200" dirty="0"/>
              <a:t> – 32 cars sold (highest volume)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3 Series</a:t>
            </a:r>
            <a:r>
              <a:rPr lang="en-US" sz="3200" dirty="0"/>
              <a:t> – 18 cars sold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5 Series</a:t>
            </a:r>
            <a:r>
              <a:rPr lang="en-US" sz="3200" dirty="0"/>
              <a:t> – 12 cars sold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X1</a:t>
            </a:r>
            <a:r>
              <a:rPr lang="en-US" sz="3200" dirty="0"/>
              <a:t> – 10 cars sold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2 Series</a:t>
            </a:r>
            <a:r>
              <a:rPr lang="en-US" sz="3200" dirty="0"/>
              <a:t> – 8 cars sold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95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E814-051C-C8E1-5F0B-41E44C9B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b="1" dirty="0"/>
              <a:t>Top Models by Revenue Contribution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7B5C-E743-D712-C6A3-DF2EE156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1 Series</a:t>
            </a:r>
            <a:r>
              <a:rPr lang="en-US" sz="3200" dirty="0"/>
              <a:t> – $3,99,645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3 Series</a:t>
            </a:r>
            <a:r>
              <a:rPr lang="en-US" sz="3200" dirty="0"/>
              <a:t> – $2,64,340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5 Series</a:t>
            </a:r>
            <a:r>
              <a:rPr lang="en-US" sz="3200" dirty="0"/>
              <a:t> – $1,78,250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X1</a:t>
            </a:r>
            <a:r>
              <a:rPr lang="en-US" sz="3200" dirty="0"/>
              <a:t> – $1,54,850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BMW X3</a:t>
            </a:r>
            <a:r>
              <a:rPr lang="en-US" sz="3200" dirty="0"/>
              <a:t> – $1,45,150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902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A32FC-BEB2-EA6E-4A40-B52FDFF8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b="1" dirty="0"/>
              <a:t>Customer &amp; Market Insights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DCBD9-3117-60D1-C3C1-532CF08CE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Customers prefer </a:t>
            </a:r>
            <a:r>
              <a:rPr lang="en-US" sz="3200" b="1" dirty="0"/>
              <a:t>Automatic transmission</a:t>
            </a:r>
            <a:r>
              <a:rPr lang="en-US" sz="3200" dirty="0"/>
              <a:t>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Diesel and Petrol cars both show strong acceptance.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Mileage and price play an important role in buying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Customers show trust in BMW across multiple years.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048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3835-5C76-71E8-3934-66ABFCAA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8447B-BBD1-B020-0993-D19A9E55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84" y="1580050"/>
            <a:ext cx="10353762" cy="405875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• The BMW data was successfully analyzed using Microsoft Excel.</a:t>
            </a:r>
          </a:p>
          <a:p>
            <a:pPr marL="0" indent="0">
              <a:buNone/>
            </a:pPr>
            <a:r>
              <a:rPr lang="en-US" sz="2800" dirty="0"/>
              <a:t>• An interactive dashboard was created using KPI boxes and charts.  </a:t>
            </a:r>
          </a:p>
          <a:p>
            <a:pPr marL="0" indent="0">
              <a:buNone/>
            </a:pPr>
            <a:r>
              <a:rPr lang="en-US" sz="2800" dirty="0"/>
              <a:t>• The dashboard helps understand price, mileage, and model trends easily.</a:t>
            </a:r>
          </a:p>
          <a:p>
            <a:pPr marL="0" indent="0">
              <a:buNone/>
            </a:pPr>
            <a:r>
              <a:rPr lang="en-US" sz="2800" dirty="0"/>
              <a:t>• This project improved our understanding of Excel dashboards and data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763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122</TotalTime>
  <Words>416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Wingdings 2</vt:lpstr>
      <vt:lpstr>Slate</vt:lpstr>
      <vt:lpstr>BMW Data Analysis Dashboard </vt:lpstr>
      <vt:lpstr>PROJECT OVERVIEW &amp; OBJECTIVE</vt:lpstr>
      <vt:lpstr>What did we do??</vt:lpstr>
      <vt:lpstr>Executive Summary – Performance at a Glance </vt:lpstr>
      <vt:lpstr>Top Performing BMW Models </vt:lpstr>
      <vt:lpstr>Top Models by Revenue Contribution </vt:lpstr>
      <vt:lpstr>Customer &amp; Market Insights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Gorang Kale</dc:creator>
  <cp:lastModifiedBy>Sanjiv Sachde</cp:lastModifiedBy>
  <cp:revision>2</cp:revision>
  <dcterms:created xsi:type="dcterms:W3CDTF">2026-01-20T10:32:07Z</dcterms:created>
  <dcterms:modified xsi:type="dcterms:W3CDTF">2026-01-21T06:10:30Z</dcterms:modified>
</cp:coreProperties>
</file>